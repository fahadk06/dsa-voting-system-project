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0" d="100"/>
          <a:sy n="90" d="100"/>
        </p:scale>
        <p:origin x="6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1839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2C8DC"/>
          </a:solidFill>
          <a:ln w="12700">
            <a:solidFill>
              <a:srgbClr val="32C8D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32C8DC"/>
          </a:solidFill>
          <a:ln w="12700">
            <a:solidFill>
              <a:srgbClr val="32C8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32C8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E-VOTING PORTAL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240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E6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DSA Project Presentation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2834640"/>
            <a:ext cx="2743200" cy="36576"/>
          </a:xfrm>
          <a:prstGeom prst="rect">
            <a:avLst/>
          </a:prstGeom>
          <a:solidFill>
            <a:srgbClr val="9696B4"/>
          </a:solidFill>
          <a:ln w="12700">
            <a:solidFill>
              <a:srgbClr val="9696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696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Structures &amp; Algorithms  ·  Java Swing  ·  MySQL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F8E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Linked List  ·  Bubble Sort  ·  Binary Search  ·  Insertion Sort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403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Submitted By: </a:t>
            </a:r>
            <a:r>
              <a:rPr lang="en-US" sz="1200" b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M. Fahad Khan (054), Ahmad </a:t>
            </a:r>
            <a:r>
              <a:rPr lang="en-US" sz="1200" b="1" dirty="0" err="1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Minhal</a:t>
            </a:r>
            <a:r>
              <a:rPr lang="en-US" sz="1200" b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(010), Ameer Hamza (018)</a:t>
            </a:r>
            <a:endParaRPr lang="en-US" sz="12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2C8DC"/>
          </a:solidFill>
          <a:ln w="12700">
            <a:solidFill>
              <a:srgbClr val="32C8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2C8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31920" cy="1600200"/>
          </a:xfrm>
          <a:prstGeom prst="rect">
            <a:avLst/>
          </a:prstGeom>
          <a:solidFill>
            <a:srgbClr val="2C2C40"/>
          </a:solidFill>
          <a:ln w="12700">
            <a:solidFill>
              <a:srgbClr val="2C2C4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54864" cy="1600200"/>
          </a:xfrm>
          <a:prstGeom prst="rect">
            <a:avLst/>
          </a:prstGeom>
          <a:solidFill>
            <a:srgbClr val="32C8DC"/>
          </a:solidFill>
          <a:ln w="12700">
            <a:solidFill>
              <a:srgbClr val="32C8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Login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696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access for Voters &amp; Admins via MySQL authentication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3931920" cy="1600200"/>
          </a:xfrm>
          <a:prstGeom prst="rect">
            <a:avLst/>
          </a:prstGeom>
          <a:solidFill>
            <a:srgbClr val="2C2C40"/>
          </a:solidFill>
          <a:ln w="12700">
            <a:solidFill>
              <a:srgbClr val="2C2C4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914400"/>
            <a:ext cx="54864" cy="1600200"/>
          </a:xfrm>
          <a:prstGeom prst="rect">
            <a:avLst/>
          </a:prstGeom>
          <a:solidFill>
            <a:srgbClr val="32C8DC"/>
          </a:solidFill>
          <a:ln w="12700">
            <a:solidFill>
              <a:srgbClr val="32C8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Cast Votes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150876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696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Voters browse candidates stored in a Linked List and cast ballots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788920"/>
            <a:ext cx="3931920" cy="1600200"/>
          </a:xfrm>
          <a:prstGeom prst="rect">
            <a:avLst/>
          </a:prstGeom>
          <a:solidFill>
            <a:srgbClr val="2C2C40"/>
          </a:solidFill>
          <a:ln w="12700">
            <a:solidFill>
              <a:srgbClr val="2C2C4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788920"/>
            <a:ext cx="54864" cy="1600200"/>
          </a:xfrm>
          <a:prstGeom prst="rect">
            <a:avLst/>
          </a:prstGeom>
          <a:solidFill>
            <a:srgbClr val="32C8DC"/>
          </a:solidFill>
          <a:ln w="12700">
            <a:solidFill>
              <a:srgbClr val="32C8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338328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696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Binary Search finds candidates by name; linear fallback searches by area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788920"/>
            <a:ext cx="3931920" cy="1600200"/>
          </a:xfrm>
          <a:prstGeom prst="rect">
            <a:avLst/>
          </a:prstGeom>
          <a:solidFill>
            <a:srgbClr val="2C2C40"/>
          </a:solidFill>
          <a:ln w="12700">
            <a:solidFill>
              <a:srgbClr val="2C2C4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788920"/>
            <a:ext cx="54864" cy="1600200"/>
          </a:xfrm>
          <a:prstGeom prst="rect">
            <a:avLst/>
          </a:prstGeom>
          <a:solidFill>
            <a:srgbClr val="32C8DC"/>
          </a:solidFill>
          <a:ln w="12700">
            <a:solidFill>
              <a:srgbClr val="32C8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46320" y="338328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696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Bubble Sort ranks candidates by vote count in descending order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2C878"/>
          </a:solidFill>
          <a:ln w="12700">
            <a:solidFill>
              <a:srgbClr val="32C8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2C8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Linked List  —  Candidate Storage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CandidateLinkedList stores all candidates as a singly linked list.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node holds: id, name, party, area, votes, and a next pointer.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Circular navigation (nextIndex / prevIndex) drives the voting UI.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2103120"/>
            <a:ext cx="1417320" cy="685800"/>
          </a:xfrm>
          <a:prstGeom prst="rect">
            <a:avLst/>
          </a:prstGeom>
          <a:solidFill>
            <a:srgbClr val="2C2C40"/>
          </a:solidFill>
          <a:ln w="12700">
            <a:solidFill>
              <a:srgbClr val="32C8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2103120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2C8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91640" y="2446020"/>
            <a:ext cx="365760" cy="0"/>
          </a:xfrm>
          <a:prstGeom prst="line">
            <a:avLst/>
          </a:prstGeom>
          <a:noFill/>
          <a:ln w="25400">
            <a:solidFill>
              <a:srgbClr val="9696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2267712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696B4"/>
                </a:solidFill>
              </a:rPr>
              <a:t>▶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57400" y="2103120"/>
            <a:ext cx="1417320" cy="685800"/>
          </a:xfrm>
          <a:prstGeom prst="rect">
            <a:avLst/>
          </a:prstGeom>
          <a:solidFill>
            <a:srgbClr val="2C2C40"/>
          </a:solidFill>
          <a:ln w="12700">
            <a:solidFill>
              <a:srgbClr val="32C8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7400" y="2103120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2C8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 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2C8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(Candidate)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2446020"/>
            <a:ext cx="365760" cy="0"/>
          </a:xfrm>
          <a:prstGeom prst="line">
            <a:avLst/>
          </a:prstGeom>
          <a:noFill/>
          <a:ln w="25400">
            <a:solidFill>
              <a:srgbClr val="9696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2267712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696B4"/>
                </a:solidFill>
              </a:rPr>
              <a:t>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0" y="2103120"/>
            <a:ext cx="1417320" cy="685800"/>
          </a:xfrm>
          <a:prstGeom prst="rect">
            <a:avLst/>
          </a:prstGeom>
          <a:solidFill>
            <a:srgbClr val="2C2C40"/>
          </a:solidFill>
          <a:ln w="12700">
            <a:solidFill>
              <a:srgbClr val="32C8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2103120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2C8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 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2C8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(Candidate)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57800" y="2446020"/>
            <a:ext cx="365760" cy="0"/>
          </a:xfrm>
          <a:prstGeom prst="line">
            <a:avLst/>
          </a:prstGeom>
          <a:noFill/>
          <a:ln w="25400">
            <a:solidFill>
              <a:srgbClr val="9696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2267712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696B4"/>
                </a:solidFill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23560" y="2103120"/>
            <a:ext cx="1417320" cy="685800"/>
          </a:xfrm>
          <a:prstGeom prst="rect">
            <a:avLst/>
          </a:prstGeom>
          <a:solidFill>
            <a:srgbClr val="2C2C40"/>
          </a:solidFill>
          <a:ln w="12700">
            <a:solidFill>
              <a:srgbClr val="32C8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23560" y="2103120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2C8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 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2C8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(Candidate)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40880" y="2446020"/>
            <a:ext cx="365760" cy="0"/>
          </a:xfrm>
          <a:prstGeom prst="line">
            <a:avLst/>
          </a:prstGeom>
          <a:noFill/>
          <a:ln w="25400">
            <a:solidFill>
              <a:srgbClr val="9696B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69480" y="2267712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696B4"/>
                </a:solidFill>
              </a:rPr>
              <a:t>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406640" y="2103120"/>
            <a:ext cx="1417320" cy="685800"/>
          </a:xfrm>
          <a:prstGeom prst="rect">
            <a:avLst/>
          </a:prstGeom>
          <a:solidFill>
            <a:srgbClr val="2C2C40"/>
          </a:solidFill>
          <a:ln w="12700">
            <a:solidFill>
              <a:srgbClr val="DC46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0" y="2103120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46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NULL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2C8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Operations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65760" y="3429000"/>
            <a:ext cx="4023360" cy="502920"/>
          </a:xfrm>
          <a:prstGeom prst="rect">
            <a:avLst/>
          </a:prstGeom>
          <a:solidFill>
            <a:srgbClr val="2C2C40"/>
          </a:solidFill>
          <a:ln w="12700">
            <a:solidFill>
              <a:srgbClr val="2C2C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45643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add()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600200" y="345643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 a new candidate node to the tail  —  O(n)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069080"/>
            <a:ext cx="4023360" cy="502920"/>
          </a:xfrm>
          <a:prstGeom prst="rect">
            <a:avLst/>
          </a:prstGeom>
          <a:solidFill>
            <a:srgbClr val="2C2C40"/>
          </a:solidFill>
          <a:ln w="12700">
            <a:solidFill>
              <a:srgbClr val="2C2C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09651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nextIndex()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600200" y="409651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Circular forward navigation  —  O(1)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429000"/>
            <a:ext cx="4023360" cy="502920"/>
          </a:xfrm>
          <a:prstGeom prst="rect">
            <a:avLst/>
          </a:prstGeom>
          <a:solidFill>
            <a:srgbClr val="2C2C40"/>
          </a:solidFill>
          <a:ln w="12700">
            <a:solidFill>
              <a:srgbClr val="2C2C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45643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prevIndex()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89320" y="345643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Circular backward navigation  —  O(1)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4069080"/>
            <a:ext cx="4023360" cy="502920"/>
          </a:xfrm>
          <a:prstGeom prst="rect">
            <a:avLst/>
          </a:prstGeom>
          <a:solidFill>
            <a:srgbClr val="2C2C40"/>
          </a:solidFill>
          <a:ln w="12700">
            <a:solidFill>
              <a:srgbClr val="2C2C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409651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clear()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989320" y="409651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Reset the list (head = null)  —  O(1)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7C9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Bubble Sort  —  Ranking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VoteSorter.bubbleSort() sorts candidates in descending order by vote count.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Called by UserDashboard when displaying election results.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696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Sort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46320" y="1508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696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Sort (Descending)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2148840"/>
            <a:ext cx="822960" cy="822960"/>
          </a:xfrm>
          <a:prstGeom prst="rect">
            <a:avLst/>
          </a:prstGeom>
          <a:solidFill>
            <a:srgbClr val="32C878"/>
          </a:solidFill>
          <a:ln w="12700">
            <a:solidFill>
              <a:srgbClr val="32C8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3017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87452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2C8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234440" y="2388870"/>
            <a:ext cx="822960" cy="58293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3017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Sara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34440" y="211455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8E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48840" y="1600200"/>
            <a:ext cx="822960" cy="1371600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48840" y="3017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Omar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48840" y="132588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C9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063240" y="2628900"/>
            <a:ext cx="822960" cy="342900"/>
          </a:xfrm>
          <a:prstGeom prst="rect">
            <a:avLst/>
          </a:prstGeom>
          <a:solidFill>
            <a:srgbClr val="DC4646"/>
          </a:solidFill>
          <a:ln w="12700">
            <a:solidFill>
              <a:srgbClr val="DC46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63240" y="3017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Zara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063240" y="235458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46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977640" y="1874520"/>
            <a:ext cx="822960" cy="1097280"/>
          </a:xfrm>
          <a:prstGeom prst="rect">
            <a:avLst/>
          </a:prstGeom>
          <a:solidFill>
            <a:srgbClr val="32C8DC"/>
          </a:solidFill>
          <a:ln w="12700">
            <a:solidFill>
              <a:srgbClr val="32C8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77640" y="3017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977640" y="160020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2C8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51960" y="21031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696B4"/>
                </a:solidFill>
              </a:rPr>
              <a:t>➜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4846320" y="1600200"/>
            <a:ext cx="731520" cy="1371600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017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Omar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13258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C9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87568" y="1874520"/>
            <a:ext cx="731520" cy="1097280"/>
          </a:xfrm>
          <a:prstGeom prst="rect">
            <a:avLst/>
          </a:prstGeom>
          <a:solidFill>
            <a:srgbClr val="32C8DC"/>
          </a:solidFill>
          <a:ln w="12700">
            <a:solidFill>
              <a:srgbClr val="32C8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87568" y="3017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87568" y="16002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2C8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528816" y="2148840"/>
            <a:ext cx="731520" cy="822960"/>
          </a:xfrm>
          <a:prstGeom prst="rect">
            <a:avLst/>
          </a:prstGeom>
          <a:solidFill>
            <a:srgbClr val="32C878"/>
          </a:solidFill>
          <a:ln w="12700">
            <a:solidFill>
              <a:srgbClr val="32C87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28816" y="3017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Ali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28816" y="18745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2C8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70064" y="2388870"/>
            <a:ext cx="731520" cy="58293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70064" y="3017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Sara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70064" y="211455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8E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85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211312" y="2628900"/>
            <a:ext cx="731520" cy="342900"/>
          </a:xfrm>
          <a:prstGeom prst="rect">
            <a:avLst/>
          </a:prstGeom>
          <a:solidFill>
            <a:srgbClr val="DC4646"/>
          </a:solidFill>
          <a:ln w="12700">
            <a:solidFill>
              <a:srgbClr val="DC464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11312" y="3017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Zara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211312" y="23545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46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696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 Complexity: O(n²)  ·  Space: O(1)  ·  In-place, stable for nearly-sorted data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8E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Binary Search  +  Insertion Sort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4023360" cy="4069080"/>
          </a:xfrm>
          <a:prstGeom prst="rect">
            <a:avLst/>
          </a:prstGeom>
          <a:solidFill>
            <a:srgbClr val="2C2C40"/>
          </a:solidFill>
          <a:ln w="12700">
            <a:solidFill>
              <a:srgbClr val="2C2C4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41248"/>
            <a:ext cx="64008" cy="406908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8E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Binary Search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353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696B4"/>
                </a:solidFill>
              </a:rPr>
              <a:t>Used in: </a:t>
            </a:r>
            <a:r>
              <a:rPr lang="en-US" sz="1200" b="1" dirty="0">
                <a:solidFill>
                  <a:srgbClr val="4F8EF7"/>
                </a:solidFill>
              </a:rPr>
              <a:t>BinarySearch.search()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Copy array, sort it by name (Insertion Sort)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Set lo=0, hi=length-1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mid = (lo + hi) / 2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If mid contains query → collect match + neighbours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If mid &lt; query → search right half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Else → search left half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Linear fallback: search remaining by area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526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696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O(log n) name search  +  O(n) area fallback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841248"/>
            <a:ext cx="4023360" cy="4069080"/>
          </a:xfrm>
          <a:prstGeom prst="rect">
            <a:avLst/>
          </a:prstGeom>
          <a:solidFill>
            <a:srgbClr val="2C2C40"/>
          </a:solidFill>
          <a:ln w="12700">
            <a:solidFill>
              <a:srgbClr val="2C2C4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841248"/>
            <a:ext cx="64008" cy="4069080"/>
          </a:xfrm>
          <a:prstGeom prst="rect">
            <a:avLst/>
          </a:prstGeom>
          <a:solidFill>
            <a:srgbClr val="32C8DC"/>
          </a:solidFill>
          <a:ln w="12700">
            <a:solidFill>
              <a:srgbClr val="32C8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9144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2C8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Insertion Sort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1353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696B4"/>
                </a:solidFill>
              </a:rPr>
              <a:t>Used in: </a:t>
            </a:r>
            <a:r>
              <a:rPr lang="en-US" sz="1200" b="1" dirty="0">
                <a:solidFill>
                  <a:srgbClr val="32C8DC"/>
                </a:solidFill>
              </a:rPr>
              <a:t>BinarySearch.sortByName()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1737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696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Unsorted: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0" y="2057400"/>
            <a:ext cx="658368" cy="347472"/>
          </a:xfrm>
          <a:prstGeom prst="rect">
            <a:avLst/>
          </a:prstGeom>
          <a:solidFill>
            <a:srgbClr val="3A3A58"/>
          </a:solidFill>
          <a:ln w="12700">
            <a:solidFill>
              <a:srgbClr val="9696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2057400"/>
            <a:ext cx="658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E6FF"/>
                </a:solidFill>
              </a:rPr>
              <a:t>Ali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742432" y="2057400"/>
            <a:ext cx="658368" cy="347472"/>
          </a:xfrm>
          <a:prstGeom prst="rect">
            <a:avLst/>
          </a:prstGeom>
          <a:solidFill>
            <a:srgbClr val="3A3A58"/>
          </a:solidFill>
          <a:ln w="12700">
            <a:solidFill>
              <a:srgbClr val="9696B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42432" y="2057400"/>
            <a:ext cx="658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E6FF"/>
                </a:solidFill>
              </a:rPr>
              <a:t>Zara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55664" y="2057400"/>
            <a:ext cx="658368" cy="347472"/>
          </a:xfrm>
          <a:prstGeom prst="rect">
            <a:avLst/>
          </a:prstGeom>
          <a:solidFill>
            <a:srgbClr val="3A3A58"/>
          </a:solidFill>
          <a:ln w="12700">
            <a:solidFill>
              <a:srgbClr val="9696B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55664" y="2057400"/>
            <a:ext cx="658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E6FF"/>
                </a:solidFill>
              </a:rPr>
              <a:t>Omar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168896" y="2057400"/>
            <a:ext cx="658368" cy="347472"/>
          </a:xfrm>
          <a:prstGeom prst="rect">
            <a:avLst/>
          </a:prstGeom>
          <a:solidFill>
            <a:srgbClr val="3A3A58"/>
          </a:solidFill>
          <a:ln w="12700">
            <a:solidFill>
              <a:srgbClr val="9696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68896" y="2057400"/>
            <a:ext cx="658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E6FF"/>
                </a:solidFill>
              </a:rPr>
              <a:t>Bilal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882128" y="2057400"/>
            <a:ext cx="658368" cy="347472"/>
          </a:xfrm>
          <a:prstGeom prst="rect">
            <a:avLst/>
          </a:prstGeom>
          <a:solidFill>
            <a:srgbClr val="3A3A58"/>
          </a:solidFill>
          <a:ln w="12700">
            <a:solidFill>
              <a:srgbClr val="9696B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82128" y="2057400"/>
            <a:ext cx="658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E6FF"/>
                </a:solidFill>
              </a:rPr>
              <a:t>Sara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0" y="2468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696B4"/>
                </a:solidFill>
              </a:rPr>
              <a:t>↓  sortByName()  A→Z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2788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696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Sorted: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0" y="3108960"/>
            <a:ext cx="658368" cy="347472"/>
          </a:xfrm>
          <a:prstGeom prst="rect">
            <a:avLst/>
          </a:prstGeom>
          <a:solidFill>
            <a:srgbClr val="2C2C40"/>
          </a:solidFill>
          <a:ln w="12700">
            <a:solidFill>
              <a:srgbClr val="32C8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3108960"/>
            <a:ext cx="658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2C8DC"/>
                </a:solidFill>
              </a:rPr>
              <a:t>Ali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742432" y="3108960"/>
            <a:ext cx="658368" cy="347472"/>
          </a:xfrm>
          <a:prstGeom prst="rect">
            <a:avLst/>
          </a:prstGeom>
          <a:solidFill>
            <a:srgbClr val="2C2C40"/>
          </a:solidFill>
          <a:ln w="12700">
            <a:solidFill>
              <a:srgbClr val="32C8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42432" y="3108960"/>
            <a:ext cx="658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2C8DC"/>
                </a:solidFill>
              </a:rPr>
              <a:t>Bilal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55664" y="3108960"/>
            <a:ext cx="658368" cy="347472"/>
          </a:xfrm>
          <a:prstGeom prst="rect">
            <a:avLst/>
          </a:prstGeom>
          <a:solidFill>
            <a:srgbClr val="2C2C40"/>
          </a:solidFill>
          <a:ln w="12700">
            <a:solidFill>
              <a:srgbClr val="32C8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55664" y="3108960"/>
            <a:ext cx="658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2C8DC"/>
                </a:solidFill>
              </a:rPr>
              <a:t>Omar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168896" y="3108960"/>
            <a:ext cx="658368" cy="347472"/>
          </a:xfrm>
          <a:prstGeom prst="rect">
            <a:avLst/>
          </a:prstGeom>
          <a:solidFill>
            <a:srgbClr val="2C2C40"/>
          </a:solidFill>
          <a:ln w="12700">
            <a:solidFill>
              <a:srgbClr val="32C8D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68896" y="3108960"/>
            <a:ext cx="658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2C8DC"/>
                </a:solidFill>
              </a:rPr>
              <a:t>Sara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882128" y="3108960"/>
            <a:ext cx="658368" cy="347472"/>
          </a:xfrm>
          <a:prstGeom prst="rect">
            <a:avLst/>
          </a:prstGeom>
          <a:solidFill>
            <a:srgbClr val="2C2C40"/>
          </a:solidFill>
          <a:ln w="12700">
            <a:solidFill>
              <a:srgbClr val="32C8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82128" y="3108960"/>
            <a:ext cx="658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2C8DC"/>
                </a:solidFill>
              </a:rPr>
              <a:t>Zara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9200" y="36118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696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Purpose: </a:t>
            </a:r>
            <a:r>
              <a:rPr lang="en-US" sz="1100" dirty="0">
                <a:solidFill>
                  <a:srgbClr val="E6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Sorts the cloned array A→Z before binary search runs.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0" y="4526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696B4"/>
                </a:solidFill>
              </a:rPr>
              <a:t>O(n²) — stable, good for small lists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2C8DC"/>
          </a:solidFill>
          <a:ln w="12700">
            <a:solidFill>
              <a:srgbClr val="32C8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2C8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651760" cy="1920240"/>
          </a:xfrm>
          <a:prstGeom prst="rect">
            <a:avLst/>
          </a:prstGeom>
          <a:solidFill>
            <a:srgbClr val="2C2C40"/>
          </a:solidFill>
          <a:ln w="12700">
            <a:solidFill>
              <a:srgbClr val="4F8E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2412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8E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 Layer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2286000" cy="0"/>
          </a:xfrm>
          <a:prstGeom prst="line">
            <a:avLst/>
          </a:prstGeom>
          <a:noFill/>
          <a:ln w="12700">
            <a:solidFill>
              <a:srgbClr val="4F8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0020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MainForm · UserDashboard · AdminDashboard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6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UserLogin · UserRegistration · VoteProgress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54680" y="16916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696B4"/>
                </a:solidFill>
              </a:rPr>
              <a:t>⟶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83280" y="960120"/>
            <a:ext cx="2651760" cy="1920240"/>
          </a:xfrm>
          <a:prstGeom prst="rect">
            <a:avLst/>
          </a:prstGeom>
          <a:solidFill>
            <a:srgbClr val="2C2C40"/>
          </a:solidFill>
          <a:ln w="12700">
            <a:solidFill>
              <a:srgbClr val="32C87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102412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2C8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DSA Layer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566160" y="1508760"/>
            <a:ext cx="2286000" cy="0"/>
          </a:xfrm>
          <a:prstGeom prst="line">
            <a:avLst/>
          </a:prstGeom>
          <a:noFill/>
          <a:ln w="12700">
            <a:solidFill>
              <a:srgbClr val="32C8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60020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CandidateLinkedList · VoteSorter · BinarySearch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80760" y="16916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696B4"/>
                </a:solidFill>
              </a:rPr>
              <a:t>⟶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309360" y="960120"/>
            <a:ext cx="2651760" cy="1920240"/>
          </a:xfrm>
          <a:prstGeom prst="rect">
            <a:avLst/>
          </a:prstGeom>
          <a:solidFill>
            <a:srgbClr val="2C2C40"/>
          </a:solidFill>
          <a:ln w="12700">
            <a:solidFill>
              <a:srgbClr val="F7C9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102412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C9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Layer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92240" y="1508760"/>
            <a:ext cx="2286000" cy="0"/>
          </a:xfrm>
          <a:prstGeom prst="line">
            <a:avLst/>
          </a:prstGeom>
          <a:noFill/>
          <a:ln w="12700">
            <a:solidFill>
              <a:srgbClr val="F7C9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60020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 Database  ·  DBConnection  ·  JDBC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Roles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54864" cy="502920"/>
          </a:xfrm>
          <a:prstGeom prst="rect">
            <a:avLst/>
          </a:prstGeom>
          <a:solidFill>
            <a:srgbClr val="32C878"/>
          </a:solidFill>
          <a:ln w="12700">
            <a:solidFill>
              <a:srgbClr val="32C8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5661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2C8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Voter: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737360" y="3584448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  ·  Login  ·  Browse candidates  ·  Cast vote  ·  View results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54864" cy="502920"/>
          </a:xfrm>
          <a:prstGeom prst="rect">
            <a:avLst/>
          </a:prstGeom>
          <a:solidFill>
            <a:srgbClr val="DC4646"/>
          </a:solidFill>
          <a:ln w="12700">
            <a:solidFill>
              <a:srgbClr val="DC46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2519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46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Admin: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737360" y="4270248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 ·  Add / remove candidates  ·  View all voters  ·  Monitor results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2C8DC"/>
          </a:solidFill>
          <a:ln w="12700">
            <a:solidFill>
              <a:srgbClr val="32C8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2C8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DSA Concepts Summary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14800" cy="1828800"/>
          </a:xfrm>
          <a:prstGeom prst="rect">
            <a:avLst/>
          </a:prstGeom>
          <a:solidFill>
            <a:srgbClr val="2C2C40"/>
          </a:solidFill>
          <a:ln w="12700">
            <a:solidFill>
              <a:srgbClr val="2C2C4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4114800" cy="54864"/>
          </a:xfrm>
          <a:prstGeom prst="rect">
            <a:avLst/>
          </a:prstGeom>
          <a:solidFill>
            <a:srgbClr val="32C878"/>
          </a:solidFill>
          <a:ln w="12700">
            <a:solidFill>
              <a:srgbClr val="32C8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2C8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Singly Linked List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696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Class: </a:t>
            </a:r>
            <a:r>
              <a:rPr lang="en-US" sz="1100" b="1" dirty="0">
                <a:solidFill>
                  <a:srgbClr val="E6E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CandidateLinkedList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candidate storage; O(1) circular navigation for voting UI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114800" cy="1828800"/>
          </a:xfrm>
          <a:prstGeom prst="rect">
            <a:avLst/>
          </a:prstGeom>
          <a:solidFill>
            <a:srgbClr val="2C2C40"/>
          </a:solidFill>
          <a:ln w="12700">
            <a:solidFill>
              <a:srgbClr val="2C2C4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14400"/>
            <a:ext cx="4114800" cy="54864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7899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C9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Bubble Sort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92040" y="15087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696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Class: </a:t>
            </a:r>
            <a:r>
              <a:rPr lang="en-US" sz="1100" b="1" dirty="0">
                <a:solidFill>
                  <a:srgbClr val="E6E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VoteSorter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19202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 candidates by vote count descending; simple, in-place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971800"/>
            <a:ext cx="4114800" cy="1828800"/>
          </a:xfrm>
          <a:prstGeom prst="rect">
            <a:avLst/>
          </a:prstGeom>
          <a:solidFill>
            <a:srgbClr val="2C2C40"/>
          </a:solidFill>
          <a:ln w="12700">
            <a:solidFill>
              <a:srgbClr val="2C2C4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971800"/>
            <a:ext cx="4114800" cy="54864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3639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8E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Binary Search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3566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696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Class: </a:t>
            </a:r>
            <a:r>
              <a:rPr lang="en-US" sz="1100" b="1" dirty="0">
                <a:solidFill>
                  <a:srgbClr val="E6E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BinarySearch.search()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9776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O(log n) name lookup; requires sorted array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971800"/>
            <a:ext cx="4114800" cy="1828800"/>
          </a:xfrm>
          <a:prstGeom prst="rect">
            <a:avLst/>
          </a:prstGeom>
          <a:solidFill>
            <a:srgbClr val="2C2C40"/>
          </a:solidFill>
          <a:ln w="12700">
            <a:solidFill>
              <a:srgbClr val="2C2C4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971800"/>
            <a:ext cx="4114800" cy="54864"/>
          </a:xfrm>
          <a:prstGeom prst="rect">
            <a:avLst/>
          </a:prstGeom>
          <a:solidFill>
            <a:srgbClr val="32C8DC"/>
          </a:solidFill>
          <a:ln w="12700">
            <a:solidFill>
              <a:srgbClr val="32C8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13639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2C8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Insertion Sort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92040" y="3566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696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Class: </a:t>
            </a:r>
            <a:r>
              <a:rPr lang="en-US" sz="1100" b="1" dirty="0">
                <a:solidFill>
                  <a:srgbClr val="E6E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BinarySearch.sortByName()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39776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Stable A→Z sort of cloned array before binary search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2C8DC"/>
          </a:solidFill>
          <a:ln w="12700">
            <a:solidFill>
              <a:srgbClr val="32C8D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32C8DC"/>
          </a:solidFill>
          <a:ln w="12700">
            <a:solidFill>
              <a:srgbClr val="32C8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32C8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828800" y="2377440"/>
            <a:ext cx="5486400" cy="0"/>
          </a:xfrm>
          <a:prstGeom prst="line">
            <a:avLst/>
          </a:prstGeom>
          <a:noFill/>
          <a:ln w="25400">
            <a:solidFill>
              <a:srgbClr val="2C2C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696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DSA Voting System  ·  Java Swing  ·  MySQL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2C2C40"/>
          </a:solidFill>
          <a:ln w="12700">
            <a:solidFill>
              <a:srgbClr val="32C8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200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2C878"/>
                </a:solidFill>
              </a:rPr>
              <a:t>Linked List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51760" y="32004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2C2C40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3200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C948"/>
                </a:solidFill>
              </a:rPr>
              <a:t>Bubble Sort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32004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2C2C40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3200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8EF7"/>
                </a:solidFill>
              </a:rPr>
              <a:t>Binary Search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0" y="32004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2C2C40"/>
          </a:solidFill>
          <a:ln w="12700">
            <a:solidFill>
              <a:srgbClr val="32C8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3200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2C8DC"/>
                </a:solidFill>
              </a:rPr>
              <a:t>Insertion Sort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569</Words>
  <Application>Microsoft Office PowerPoint</Application>
  <PresentationFormat>On-screen Show (16:9)</PresentationFormat>
  <Paragraphs>136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DSA Voting System</dc:title>
  <dc:subject>PptxGenJS Presentation</dc:subject>
  <dc:creator>PptxGenJS</dc:creator>
  <cp:lastModifiedBy>Fahad</cp:lastModifiedBy>
  <cp:revision>5</cp:revision>
  <dcterms:created xsi:type="dcterms:W3CDTF">2026-06-02T04:27:25Z</dcterms:created>
  <dcterms:modified xsi:type="dcterms:W3CDTF">2026-06-02T05:45:07Z</dcterms:modified>
</cp:coreProperties>
</file>